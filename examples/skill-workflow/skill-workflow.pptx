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/>
    <p:restoredTop sz="94610"/>
  </p:normalViewPr>
  <p:slideViewPr>
    <p:cSldViewPr snapToGrid="0" snapToObjects="1">
      <p:cViewPr varScale="1">
        <p:scale>
          <a:sx n="173" d="100"/>
          <a:sy n="173" d="100"/>
        </p:scale>
        <p:origin x="1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a Barba" userId="180934021_tp_box_2" providerId="OAuth2" clId="{70925AC9-B1D2-5768-A0BF-A0BCABBBB338}"/>
    <pc:docChg chg="undo custSel modSld">
      <pc:chgData name="Lorena Barba" userId="180934021_tp_box_2" providerId="OAuth2" clId="{70925AC9-B1D2-5768-A0BF-A0BCABBBB338}" dt="2026-04-25T17:55:08.243" v="432" actId="1076"/>
      <pc:docMkLst>
        <pc:docMk/>
      </pc:docMkLst>
      <pc:sldChg chg="addSp delSp modSp mod">
        <pc:chgData name="Lorena Barba" userId="180934021_tp_box_2" providerId="OAuth2" clId="{70925AC9-B1D2-5768-A0BF-A0BCABBBB338}" dt="2026-04-25T17:55:08.243" v="432" actId="1076"/>
        <pc:sldMkLst>
          <pc:docMk/>
          <pc:sldMk cId="0" sldId="256"/>
        </pc:sldMkLst>
        <pc:spChg chg="mod">
          <ac:chgData name="Lorena Barba" userId="180934021_tp_box_2" providerId="OAuth2" clId="{70925AC9-B1D2-5768-A0BF-A0BCABBBB338}" dt="2026-04-03T23:25:28.803" v="341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1:39.404" v="312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3:43.190" v="95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3:06.140" v="93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2:14.573" v="91" actId="20577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Lorena Barba" userId="180934021_tp_box_2" providerId="OAuth2" clId="{70925AC9-B1D2-5768-A0BF-A0BCABBBB338}" dt="2026-04-25T17:55:08.243" v="432" actId="1076"/>
          <ac:picMkLst>
            <pc:docMk/>
            <pc:sldMk cId="0" sldId="256"/>
            <ac:picMk id="9" creationId="{00C9A88F-F866-3E0C-A504-5A7ADECEB70C}"/>
          </ac:picMkLst>
        </pc:picChg>
        <pc:picChg chg="add mod">
          <ac:chgData name="Lorena Barba" userId="180934021_tp_box_2" providerId="OAuth2" clId="{70925AC9-B1D2-5768-A0BF-A0BCABBBB338}" dt="2026-04-03T22:59:33.829" v="30" actId="1036"/>
          <ac:picMkLst>
            <pc:docMk/>
            <pc:sldMk cId="0" sldId="256"/>
            <ac:picMk id="61" creationId="{8945EC75-D443-E192-9EE1-B135FB57CAA6}"/>
          </ac:picMkLst>
        </pc:picChg>
        <pc:picChg chg="add mod">
          <ac:chgData name="Lorena Barba" userId="180934021_tp_box_2" providerId="OAuth2" clId="{70925AC9-B1D2-5768-A0BF-A0BCABBBB338}" dt="2026-04-03T22:59:57.454" v="48" actId="1038"/>
          <ac:picMkLst>
            <pc:docMk/>
            <pc:sldMk cId="0" sldId="256"/>
            <ac:picMk id="62" creationId="{82E707E1-D8F5-3BC3-442B-5EC4D8264D58}"/>
          </ac:picMkLst>
        </pc:picChg>
        <pc:picChg chg="add mod">
          <ac:chgData name="Lorena Barba" userId="180934021_tp_box_2" providerId="OAuth2" clId="{70925AC9-B1D2-5768-A0BF-A0BCABBBB338}" dt="2026-04-03T23:00:15.631" v="78" actId="1037"/>
          <ac:picMkLst>
            <pc:docMk/>
            <pc:sldMk cId="0" sldId="256"/>
            <ac:picMk id="63" creationId="{8D075647-CBCE-E655-AA96-20B3E1180717}"/>
          </ac:picMkLst>
        </pc:picChg>
      </pc:sldChg>
      <pc:sldChg chg="addSp delSp modSp mod">
        <pc:chgData name="Lorena Barba" userId="180934021_tp_box_2" providerId="OAuth2" clId="{70925AC9-B1D2-5768-A0BF-A0BCABBBB338}" dt="2026-04-03T23:22:17.137" v="317" actId="1035"/>
        <pc:sldMkLst>
          <pc:docMk/>
          <pc:sldMk cId="0" sldId="257"/>
        </pc:sldMkLst>
        <pc:spChg chg="mod">
          <ac:chgData name="Lorena Barba" userId="180934021_tp_box_2" providerId="OAuth2" clId="{70925AC9-B1D2-5768-A0BF-A0BCABBBB338}" dt="2026-04-03T23:04:02.221" v="96" actId="2711"/>
          <ac:spMkLst>
            <pc:docMk/>
            <pc:sldMk cId="0" sldId="257"/>
            <ac:spMk id="4" creationId="{00000000-0000-0000-0000-000000000000}"/>
          </ac:spMkLst>
        </pc:spChg>
        <pc:picChg chg="add mod">
          <ac:chgData name="Lorena Barba" userId="180934021_tp_box_2" providerId="OAuth2" clId="{70925AC9-B1D2-5768-A0BF-A0BCABBBB338}" dt="2026-04-03T23:22:17.137" v="317" actId="1035"/>
          <ac:picMkLst>
            <pc:docMk/>
            <pc:sldMk cId="0" sldId="257"/>
            <ac:picMk id="58" creationId="{0B7F3673-DD70-8065-D470-BFD54D467D4F}"/>
          </ac:picMkLst>
        </pc:picChg>
        <pc:picChg chg="add mod">
          <ac:chgData name="Lorena Barba" userId="180934021_tp_box_2" providerId="OAuth2" clId="{70925AC9-B1D2-5768-A0BF-A0BCABBBB338}" dt="2026-04-03T23:22:17.137" v="317" actId="1035"/>
          <ac:picMkLst>
            <pc:docMk/>
            <pc:sldMk cId="0" sldId="257"/>
            <ac:picMk id="59" creationId="{CD5924D8-0CF2-73D2-586C-3F84EDD2D408}"/>
          </ac:picMkLst>
        </pc:picChg>
        <pc:picChg chg="add mod">
          <ac:chgData name="Lorena Barba" userId="180934021_tp_box_2" providerId="OAuth2" clId="{70925AC9-B1D2-5768-A0BF-A0BCABBBB338}" dt="2026-04-03T23:22:17.137" v="317" actId="1035"/>
          <ac:picMkLst>
            <pc:docMk/>
            <pc:sldMk cId="0" sldId="257"/>
            <ac:picMk id="60" creationId="{0CEF768B-C2D9-1BC7-4284-FD2647BF9415}"/>
          </ac:picMkLst>
        </pc:picChg>
      </pc:sldChg>
      <pc:sldChg chg="modSp mod">
        <pc:chgData name="Lorena Barba" userId="180934021_tp_box_2" providerId="OAuth2" clId="{70925AC9-B1D2-5768-A0BF-A0BCABBBB338}" dt="2026-04-03T23:10:06.747" v="163" actId="2711"/>
        <pc:sldMkLst>
          <pc:docMk/>
          <pc:sldMk cId="0" sldId="258"/>
        </pc:sldMkLst>
        <pc:spChg chg="mod">
          <ac:chgData name="Lorena Barba" userId="180934021_tp_box_2" providerId="OAuth2" clId="{70925AC9-B1D2-5768-A0BF-A0BCABBBB338}" dt="2026-04-03T23:10:06.747" v="163" actId="271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4:55.189" v="102" actId="2711"/>
          <ac:spMkLst>
            <pc:docMk/>
            <pc:sldMk cId="0" sldId="258"/>
            <ac:spMk id="24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4:25.946" v="98" actId="25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4:33.650" v="99" actId="2711"/>
          <ac:spMkLst>
            <pc:docMk/>
            <pc:sldMk cId="0" sldId="258"/>
            <ac:spMk id="27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4:40.221" v="100" actId="2711"/>
          <ac:spMkLst>
            <pc:docMk/>
            <pc:sldMk cId="0" sldId="258"/>
            <ac:spMk id="28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4:45.455" v="101" actId="2711"/>
          <ac:spMkLst>
            <pc:docMk/>
            <pc:sldMk cId="0" sldId="258"/>
            <ac:spMk id="29" creationId="{00000000-0000-0000-0000-000000000000}"/>
          </ac:spMkLst>
        </pc:spChg>
      </pc:sldChg>
      <pc:sldChg chg="addSp delSp modSp mod">
        <pc:chgData name="Lorena Barba" userId="180934021_tp_box_2" providerId="OAuth2" clId="{70925AC9-B1D2-5768-A0BF-A0BCABBBB338}" dt="2026-04-05T19:59:09.629" v="426" actId="1037"/>
        <pc:sldMkLst>
          <pc:docMk/>
          <pc:sldMk cId="0" sldId="259"/>
        </pc:sldMkLst>
        <pc:spChg chg="mod">
          <ac:chgData name="Lorena Barba" userId="180934021_tp_box_2" providerId="OAuth2" clId="{70925AC9-B1D2-5768-A0BF-A0BCABBBB338}" dt="2026-04-03T23:17:22.139" v="287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5:36.602" v="104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5:26.575" v="103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0:16.235" v="179" actId="10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Lorena Barba" userId="180934021_tp_box_2" providerId="OAuth2" clId="{70925AC9-B1D2-5768-A0BF-A0BCABBBB338}" dt="2026-04-05T19:58:02.523" v="342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6:48.313" v="11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6:10.317" v="107" actId="271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6:17.309" v="108" actId="2711"/>
          <ac:spMkLst>
            <pc:docMk/>
            <pc:sldMk cId="0" sldId="259"/>
            <ac:spMk id="1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6:23.077" v="109" actId="2711"/>
          <ac:spMkLst>
            <pc:docMk/>
            <pc:sldMk cId="0" sldId="259"/>
            <ac:spMk id="17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6:28.848" v="110" actId="2711"/>
          <ac:spMkLst>
            <pc:docMk/>
            <pc:sldMk cId="0" sldId="259"/>
            <ac:spMk id="19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6:33.864" v="111" actId="2711"/>
          <ac:spMkLst>
            <pc:docMk/>
            <pc:sldMk cId="0" sldId="259"/>
            <ac:spMk id="20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6:38.944" v="112" actId="2711"/>
          <ac:spMkLst>
            <pc:docMk/>
            <pc:sldMk cId="0" sldId="259"/>
            <ac:spMk id="21" creationId="{00000000-0000-0000-0000-000000000000}"/>
          </ac:spMkLst>
        </pc:spChg>
        <pc:picChg chg="add mod">
          <ac:chgData name="Lorena Barba" userId="180934021_tp_box_2" providerId="OAuth2" clId="{70925AC9-B1D2-5768-A0BF-A0BCABBBB338}" dt="2026-04-03T23:07:28.235" v="120" actId="1035"/>
          <ac:picMkLst>
            <pc:docMk/>
            <pc:sldMk cId="0" sldId="259"/>
            <ac:picMk id="74" creationId="{56026A9C-F84D-5B0A-DE07-780D7CD02D6F}"/>
          </ac:picMkLst>
        </pc:picChg>
        <pc:picChg chg="add mod">
          <ac:chgData name="Lorena Barba" userId="180934021_tp_box_2" providerId="OAuth2" clId="{70925AC9-B1D2-5768-A0BF-A0BCABBBB338}" dt="2026-04-05T19:58:56.740" v="405" actId="1038"/>
          <ac:picMkLst>
            <pc:docMk/>
            <pc:sldMk cId="0" sldId="259"/>
            <ac:picMk id="75" creationId="{7899C64E-882B-A971-299A-C2C62A5802A0}"/>
          </ac:picMkLst>
        </pc:picChg>
        <pc:picChg chg="add mod">
          <ac:chgData name="Lorena Barba" userId="180934021_tp_box_2" providerId="OAuth2" clId="{70925AC9-B1D2-5768-A0BF-A0BCABBBB338}" dt="2026-04-05T19:59:09.629" v="426" actId="1037"/>
          <ac:picMkLst>
            <pc:docMk/>
            <pc:sldMk cId="0" sldId="259"/>
            <ac:picMk id="76" creationId="{B04080D0-BE4E-6278-893D-7EF0BE9E67EE}"/>
          </ac:picMkLst>
        </pc:picChg>
      </pc:sldChg>
      <pc:sldChg chg="delSp modSp mod">
        <pc:chgData name="Lorena Barba" userId="180934021_tp_box_2" providerId="OAuth2" clId="{70925AC9-B1D2-5768-A0BF-A0BCABBBB338}" dt="2026-04-03T23:13:13.117" v="241" actId="2711"/>
        <pc:sldMkLst>
          <pc:docMk/>
          <pc:sldMk cId="0" sldId="260"/>
        </pc:sldMkLst>
        <pc:spChg chg="mod">
          <ac:chgData name="Lorena Barba" userId="180934021_tp_box_2" providerId="OAuth2" clId="{70925AC9-B1D2-5768-A0BF-A0BCABBBB338}" dt="2026-04-03T23:12:34.483" v="215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49.607" v="239" actId="1035"/>
          <ac:spMkLst>
            <pc:docMk/>
            <pc:sldMk cId="0" sldId="260"/>
            <ac:spMk id="4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49.607" v="239" actId="1035"/>
          <ac:spMkLst>
            <pc:docMk/>
            <pc:sldMk cId="0" sldId="260"/>
            <ac:spMk id="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49.607" v="239" actId="1035"/>
          <ac:spMkLst>
            <pc:docMk/>
            <pc:sldMk cId="0" sldId="260"/>
            <ac:spMk id="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49.607" v="239" actId="1035"/>
          <ac:spMkLst>
            <pc:docMk/>
            <pc:sldMk cId="0" sldId="260"/>
            <ac:spMk id="7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3:13.117" v="241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49.607" v="239" actId="1035"/>
          <ac:spMkLst>
            <pc:docMk/>
            <pc:sldMk cId="0" sldId="260"/>
            <ac:spMk id="9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49.607" v="239" actId="103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49.607" v="239" actId="103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0:43.304" v="180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3:13.117" v="241" actId="2711"/>
          <ac:spMkLst>
            <pc:docMk/>
            <pc:sldMk cId="0" sldId="260"/>
            <ac:spMk id="1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1:45.773" v="209" actId="25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11.518" v="212" actId="14100"/>
          <ac:spMkLst>
            <pc:docMk/>
            <pc:sldMk cId="0" sldId="260"/>
            <ac:spMk id="18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0:43.304" v="180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8:23.824" v="151" actId="10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3:13.117" v="241" actId="2711"/>
          <ac:spMkLst>
            <pc:docMk/>
            <pc:sldMk cId="0" sldId="260"/>
            <ac:spMk id="2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1:45.773" v="209" actId="25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8:23.824" v="151" actId="103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49.607" v="239" actId="103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2:49.607" v="239" actId="1035"/>
          <ac:spMkLst>
            <pc:docMk/>
            <pc:sldMk cId="0" sldId="260"/>
            <ac:spMk id="26" creationId="{00000000-0000-0000-0000-000000000000}"/>
          </ac:spMkLst>
        </pc:spChg>
      </pc:sldChg>
      <pc:sldChg chg="addSp modSp mod">
        <pc:chgData name="Lorena Barba" userId="180934021_tp_box_2" providerId="OAuth2" clId="{70925AC9-B1D2-5768-A0BF-A0BCABBBB338}" dt="2026-04-03T23:23:09.216" v="323" actId="1076"/>
        <pc:sldMkLst>
          <pc:docMk/>
          <pc:sldMk cId="0" sldId="261"/>
        </pc:sldMkLst>
        <pc:spChg chg="mod">
          <ac:chgData name="Lorena Barba" userId="180934021_tp_box_2" providerId="OAuth2" clId="{70925AC9-B1D2-5768-A0BF-A0BCABBBB338}" dt="2026-04-03T23:23:09.216" v="323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9:55.098" v="162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09:48.422" v="161" actId="2711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Lorena Barba" userId="180934021_tp_box_2" providerId="OAuth2" clId="{70925AC9-B1D2-5768-A0BF-A0BCABBBB338}" dt="2026-04-03T23:09:22.217" v="157" actId="164"/>
          <ac:spMkLst>
            <pc:docMk/>
            <pc:sldMk cId="0" sldId="261"/>
            <ac:spMk id="12" creationId="{76EC9B09-5E2B-0878-915A-347BFAB877CF}"/>
          </ac:spMkLst>
        </pc:spChg>
        <pc:spChg chg="add mod">
          <ac:chgData name="Lorena Barba" userId="180934021_tp_box_2" providerId="OAuth2" clId="{70925AC9-B1D2-5768-A0BF-A0BCABBBB338}" dt="2026-04-03T23:09:22.217" v="157" actId="164"/>
          <ac:spMkLst>
            <pc:docMk/>
            <pc:sldMk cId="0" sldId="261"/>
            <ac:spMk id="13" creationId="{B7DC4938-0C6B-A124-8A2A-5DD2707A6C09}"/>
          </ac:spMkLst>
        </pc:spChg>
        <pc:spChg chg="add mod">
          <ac:chgData name="Lorena Barba" userId="180934021_tp_box_2" providerId="OAuth2" clId="{70925AC9-B1D2-5768-A0BF-A0BCABBBB338}" dt="2026-04-03T23:09:22.217" v="157" actId="164"/>
          <ac:spMkLst>
            <pc:docMk/>
            <pc:sldMk cId="0" sldId="261"/>
            <ac:spMk id="14" creationId="{8B7F13F9-CB0D-A2B9-B5B8-0D7ABD4A0458}"/>
          </ac:spMkLst>
        </pc:spChg>
        <pc:spChg chg="add mod">
          <ac:chgData name="Lorena Barba" userId="180934021_tp_box_2" providerId="OAuth2" clId="{70925AC9-B1D2-5768-A0BF-A0BCABBBB338}" dt="2026-04-03T23:09:22.217" v="157" actId="164"/>
          <ac:spMkLst>
            <pc:docMk/>
            <pc:sldMk cId="0" sldId="261"/>
            <ac:spMk id="15" creationId="{27E12183-69BD-B08F-BF76-39FDCF138A79}"/>
          </ac:spMkLst>
        </pc:spChg>
        <pc:spChg chg="add mod">
          <ac:chgData name="Lorena Barba" userId="180934021_tp_box_2" providerId="OAuth2" clId="{70925AC9-B1D2-5768-A0BF-A0BCABBBB338}" dt="2026-04-03T23:09:22.217" v="157" actId="164"/>
          <ac:spMkLst>
            <pc:docMk/>
            <pc:sldMk cId="0" sldId="261"/>
            <ac:spMk id="16" creationId="{DF129954-D8EC-48C5-0921-2EE608F044DE}"/>
          </ac:spMkLst>
        </pc:spChg>
        <pc:grpChg chg="add mod">
          <ac:chgData name="Lorena Barba" userId="180934021_tp_box_2" providerId="OAuth2" clId="{70925AC9-B1D2-5768-A0BF-A0BCABBBB338}" dt="2026-04-03T23:09:33.250" v="160" actId="1076"/>
          <ac:grpSpMkLst>
            <pc:docMk/>
            <pc:sldMk cId="0" sldId="261"/>
            <ac:grpSpMk id="17" creationId="{7F6E3FC6-37CF-7672-3543-A805867917B9}"/>
          </ac:grpSpMkLst>
        </pc:grpChg>
      </pc:sldChg>
      <pc:sldChg chg="delSp modSp mod">
        <pc:chgData name="Lorena Barba" userId="180934021_tp_box_2" providerId="OAuth2" clId="{70925AC9-B1D2-5768-A0BF-A0BCABBBB338}" dt="2026-04-03T23:23:34.866" v="326" actId="14100"/>
        <pc:sldMkLst>
          <pc:docMk/>
          <pc:sldMk cId="0" sldId="262"/>
        </pc:sldMkLst>
        <pc:spChg chg="mod">
          <ac:chgData name="Lorena Barba" userId="180934021_tp_box_2" providerId="OAuth2" clId="{70925AC9-B1D2-5768-A0BF-A0BCABBBB338}" dt="2026-04-03T23:23:19.817" v="324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6:52.153" v="284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6:46.694" v="283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6:42.659" v="282" actId="2711"/>
          <ac:spMkLst>
            <pc:docMk/>
            <pc:sldMk cId="0" sldId="262"/>
            <ac:spMk id="8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6:32.913" v="281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3:34.866" v="326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6:28.115" v="280" actId="2711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6:21.851" v="279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3:29.171" v="325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6:16.941" v="278" actId="25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6:11.554" v="277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7:11.006" v="286" actId="2711"/>
          <ac:spMkLst>
            <pc:docMk/>
            <pc:sldMk cId="0" sldId="262"/>
            <ac:spMk id="19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4:12.219" v="244" actId="2711"/>
          <ac:spMkLst>
            <pc:docMk/>
            <pc:sldMk cId="0" sldId="262"/>
            <ac:spMk id="20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4:02.863" v="243" actId="2711"/>
          <ac:spMkLst>
            <pc:docMk/>
            <pc:sldMk cId="0" sldId="262"/>
            <ac:spMk id="21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5:11.614" v="266" actId="1035"/>
          <ac:spMkLst>
            <pc:docMk/>
            <pc:sldMk cId="0" sldId="262"/>
            <ac:spMk id="2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4:18.085" v="245" actId="2711"/>
          <ac:spMkLst>
            <pc:docMk/>
            <pc:sldMk cId="0" sldId="262"/>
            <ac:spMk id="2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5:31.626" v="270" actId="20577"/>
          <ac:spMkLst>
            <pc:docMk/>
            <pc:sldMk cId="0" sldId="262"/>
            <ac:spMk id="2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4:27.082" v="247" actId="2711"/>
          <ac:spMkLst>
            <pc:docMk/>
            <pc:sldMk cId="0" sldId="262"/>
            <ac:spMk id="30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5:45.302" v="274" actId="14100"/>
          <ac:spMkLst>
            <pc:docMk/>
            <pc:sldMk cId="0" sldId="262"/>
            <ac:spMk id="31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4:35.868" v="249" actId="2711"/>
          <ac:spMkLst>
            <pc:docMk/>
            <pc:sldMk cId="0" sldId="262"/>
            <ac:spMk id="3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15:35.404" v="272" actId="20577"/>
          <ac:spMkLst>
            <pc:docMk/>
            <pc:sldMk cId="0" sldId="262"/>
            <ac:spMk id="36" creationId="{00000000-0000-0000-0000-000000000000}"/>
          </ac:spMkLst>
        </pc:spChg>
      </pc:sldChg>
      <pc:sldChg chg="delSp modSp mod">
        <pc:chgData name="Lorena Barba" userId="180934021_tp_box_2" providerId="OAuth2" clId="{70925AC9-B1D2-5768-A0BF-A0BCABBBB338}" dt="2026-04-03T23:24:57.438" v="340" actId="1076"/>
        <pc:sldMkLst>
          <pc:docMk/>
          <pc:sldMk cId="0" sldId="263"/>
        </pc:sldMkLst>
        <pc:spChg chg="mod">
          <ac:chgData name="Lorena Barba" userId="180934021_tp_box_2" providerId="OAuth2" clId="{70925AC9-B1D2-5768-A0BF-A0BCABBBB338}" dt="2026-04-03T23:24:23.376" v="337" actId="1038"/>
          <ac:spMkLst>
            <pc:docMk/>
            <pc:sldMk cId="0" sldId="263"/>
            <ac:spMk id="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1:02.897" v="310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3:51.646" v="327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3:59.802" v="329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3:54.740" v="328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4:57.438" v="340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26.799" v="309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3" v="29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4" v="298"/>
          <ac:spMkLst>
            <pc:docMk/>
            <pc:sldMk cId="0" sldId="263"/>
            <ac:spMk id="12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4" v="299"/>
          <ac:spMkLst>
            <pc:docMk/>
            <pc:sldMk cId="0" sldId="263"/>
            <ac:spMk id="13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5" v="3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5" v="301"/>
          <ac:spMkLst>
            <pc:docMk/>
            <pc:sldMk cId="0" sldId="263"/>
            <ac:spMk id="15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6" v="302"/>
          <ac:spMkLst>
            <pc:docMk/>
            <pc:sldMk cId="0" sldId="263"/>
            <ac:spMk id="16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6" v="303"/>
          <ac:spMkLst>
            <pc:docMk/>
            <pc:sldMk cId="0" sldId="263"/>
            <ac:spMk id="17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7" v="304"/>
          <ac:spMkLst>
            <pc:docMk/>
            <pc:sldMk cId="0" sldId="263"/>
            <ac:spMk id="18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7" v="305"/>
          <ac:spMkLst>
            <pc:docMk/>
            <pc:sldMk cId="0" sldId="263"/>
            <ac:spMk id="19" creationId="{00000000-0000-0000-0000-000000000000}"/>
          </ac:spMkLst>
        </pc:spChg>
        <pc:spChg chg="mod">
          <ac:chgData name="Lorena Barba" userId="180934021_tp_box_2" providerId="OAuth2" clId="{70925AC9-B1D2-5768-A0BF-A0BCABBBB338}" dt="2026-04-03T23:20:02.598" v="306"/>
          <ac:spMkLst>
            <pc:docMk/>
            <pc:sldMk cId="0" sldId="263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57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6576" cy="2926080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cap="small" spc="200" dirty="0">
                <a:solidFill>
                  <a:srgbClr val="D6BF91"/>
                </a:solidFill>
                <a:latin typeface="Proxima Nova Medium" panose="02000506030000020004" pitchFamily="2" charset="0"/>
                <a:ea typeface="Trebuchet MS" pitchFamily="34" charset="-122"/>
                <a:cs typeface="Trebuchet MS" pitchFamily="34" charset="-120"/>
              </a:rPr>
              <a:t>George Washington University  </a:t>
            </a:r>
            <a:r>
              <a:rPr lang="en-US" sz="1100" kern="0" spc="200" dirty="0">
                <a:solidFill>
                  <a:srgbClr val="D6BF91"/>
                </a:solidFill>
                <a:latin typeface="Proxima Nova Medium" panose="02000506030000020004" pitchFamily="2" charset="0"/>
                <a:ea typeface="Trebuchet MS" pitchFamily="34" charset="-122"/>
                <a:cs typeface="Trebuchet MS" pitchFamily="34" charset="-120"/>
              </a:rPr>
              <a:t>·  </a:t>
            </a:r>
            <a:r>
              <a:rPr lang="en-US" sz="1100" i="1" kern="0" spc="200" dirty="0">
                <a:solidFill>
                  <a:srgbClr val="D6BF91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A Workflow Story</a:t>
            </a:r>
            <a:endParaRPr lang="en-US" sz="1100" i="1" dirty="0">
              <a:latin typeface="Proxima Nova" panose="0200050603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0" b="1" cap="all" dirty="0">
                <a:solidFill>
                  <a:srgbClr val="FFFFFF"/>
                </a:solidFill>
                <a:latin typeface="Gazzetta ExtraBold" panose="02000000000000000000" pitchFamily="2" charset="77"/>
                <a:ea typeface="Georgia" pitchFamily="34" charset="-122"/>
                <a:cs typeface="Georgia" pitchFamily="34" charset="-120"/>
              </a:rPr>
              <a:t>From Webpage to </a:t>
            </a:r>
            <a:r>
              <a:rPr lang="en-US" sz="9600" b="1" cap="all" dirty="0">
                <a:solidFill>
                  <a:srgbClr val="FFFFFF"/>
                </a:solidFill>
                <a:latin typeface="Gazzetta Slanted" panose="02000000000000000000" pitchFamily="2" charset="77"/>
                <a:ea typeface="Georgia" pitchFamily="34" charset="-122"/>
                <a:cs typeface="Georgia" pitchFamily="34" charset="-120"/>
              </a:rPr>
              <a:t>Skill</a:t>
            </a:r>
            <a:endParaRPr lang="en-US" sz="9600" b="1" cap="all" dirty="0">
              <a:latin typeface="Gazzetta Slanted" panose="02000000000000000000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i="1" dirty="0">
                <a:solidFill>
                  <a:schemeClr val="bg1"/>
                </a:solidFill>
                <a:latin typeface="Source Serif Pro Semibold" panose="02040603050405020204" pitchFamily="18" charset="0"/>
                <a:ea typeface="Source Serif Pro Semibold" panose="02040603050405020204" pitchFamily="18" charset="0"/>
                <a:cs typeface="Georgia" pitchFamily="34" charset="-120"/>
              </a:rPr>
              <a:t>How Claude read the brand guidelines and learned to design presentations in the GWU style — without being asked twice.</a:t>
            </a:r>
            <a:endParaRPr lang="en-US" sz="2000" b="1" i="1" dirty="0">
              <a:solidFill>
                <a:schemeClr val="bg1"/>
              </a:solidFill>
              <a:latin typeface="Source Serif Pro Semibold" panose="02040603050405020204" pitchFamily="18" charset="0"/>
              <a:ea typeface="Source Serif Pro Semibold" panose="0204060305040502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12623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AC8A3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Lorena A. Barba  |  3 April 2026</a:t>
            </a:r>
            <a:endParaRPr lang="en-US" sz="2000" dirty="0">
              <a:latin typeface="Proxima Nova Light" panose="02000506030000020004" pitchFamily="2" charset="0"/>
            </a:endParaRP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8945EC75-D443-E192-9EE1-B135FB57CA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858341"/>
            <a:ext cx="3627120" cy="27432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82E707E1-D8F5-3BC3-442B-5EC4D8264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5142" y="4853808"/>
            <a:ext cx="3627120" cy="27432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8D075647-CBCE-E655-AA96-20B3E1180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8860" y="4857354"/>
            <a:ext cx="3627120" cy="274320"/>
          </a:xfrm>
          <a:prstGeom prst="rect">
            <a:avLst/>
          </a:prstGeom>
        </p:spPr>
      </p:pic>
      <p:pic>
        <p:nvPicPr>
          <p:cNvPr id="9" name="Picture 8" descr="A black and white sign with white letters on it&#10;&#10;AI-generated content may be incorrect.">
            <a:extLst>
              <a:ext uri="{FF2B5EF4-FFF2-40B4-BE49-F238E27FC236}">
                <a16:creationId xmlns:a16="http://schemas.microsoft.com/office/drawing/2014/main" id="{00C9A88F-F866-3E0C-A504-5A7ADECEB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8842" y="457200"/>
            <a:ext cx="984048" cy="7347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0" y="1005840"/>
            <a:ext cx="731520" cy="27432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400" b="1" i="1" dirty="0">
                <a:solidFill>
                  <a:srgbClr val="033C5A"/>
                </a:solidFill>
                <a:latin typeface="Source Serif Pro Semibold" panose="02040603050405020204" pitchFamily="18" charset="0"/>
                <a:ea typeface="Source Serif Pro Semibold" panose="02040603050405020204" pitchFamily="18" charset="0"/>
                <a:cs typeface="Georgia" pitchFamily="34" charset="-120"/>
              </a:rPr>
              <a:t>The work isn’t the slides.</a:t>
            </a:r>
            <a:endParaRPr lang="en-US" sz="4400" b="1" i="1" dirty="0">
              <a:latin typeface="Source Serif Pro Semibold" panose="02040603050405020204" pitchFamily="18" charset="0"/>
              <a:ea typeface="Source Serif Pro Semibold" panose="02040603050405020204" pitchFamily="18" charset="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4400" b="1" i="1" dirty="0">
                <a:solidFill>
                  <a:srgbClr val="033C5A"/>
                </a:solidFill>
                <a:latin typeface="Source Serif Pro Semibold" panose="02040603050405020204" pitchFamily="18" charset="0"/>
                <a:ea typeface="Source Serif Pro Semibold" panose="02040603050405020204" pitchFamily="18" charset="0"/>
                <a:cs typeface="Georgia" pitchFamily="34" charset="-120"/>
              </a:rPr>
              <a:t>It’s teaching Claude to make them.</a:t>
            </a:r>
            <a:endParaRPr lang="en-US" sz="4400" b="1" i="1" dirty="0">
              <a:latin typeface="Source Serif Pro Semibold" panose="02040603050405020204" pitchFamily="18" charset="0"/>
              <a:ea typeface="Source Serif Pro Semibold" panose="0204060305040502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06240" y="4023360"/>
            <a:ext cx="731520" cy="27432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0B7F3673-DD70-8065-D470-BFD54D467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866025"/>
            <a:ext cx="3627120" cy="27432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CD5924D8-0CF2-73D2-586C-3F84EDD2D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5142" y="4861492"/>
            <a:ext cx="3627120" cy="27432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0CEF768B-C2D9-1BC7-4284-FD2647BF9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8860" y="4865038"/>
            <a:ext cx="36271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33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29000" y="0"/>
            <a:ext cx="5715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2880360" cy="3200400"/>
          </a:xfrm>
          <a:prstGeom prst="roundRect">
            <a:avLst>
              <a:gd name="adj" fmla="val 1905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548640"/>
            <a:ext cx="2880360" cy="32004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658368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4632" y="658368"/>
            <a:ext cx="82296" cy="82296"/>
          </a:xfrm>
          <a:prstGeom prst="ellipse">
            <a:avLst/>
          </a:prstGeom>
          <a:solidFill>
            <a:srgbClr val="FFB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5216" y="658368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603504"/>
            <a:ext cx="2350008" cy="210312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612648"/>
            <a:ext cx="2240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communications.gwu.edu/brand-guidelines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365760" y="978408"/>
            <a:ext cx="2697480" cy="502920"/>
          </a:xfrm>
          <a:prstGeom prst="roundRect">
            <a:avLst>
              <a:gd name="adj" fmla="val 5455"/>
            </a:avLst>
          </a:prstGeom>
          <a:solidFill>
            <a:srgbClr val="0022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033272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GW Brand Guidelines</a:t>
            </a:r>
            <a:endParaRPr lang="en-US" sz="1000" dirty="0">
              <a:latin typeface="Proxima Nova" panose="0200050603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1600200"/>
            <a:ext cx="2211934" cy="7315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783080"/>
            <a:ext cx="1618488" cy="7315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201168" cy="201168"/>
          </a:xfrm>
          <a:prstGeom prst="roundRect">
            <a:avLst>
              <a:gd name="adj" fmla="val 9091"/>
            </a:avLst>
          </a:prstGeom>
          <a:solidFill>
            <a:srgbClr val="033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" y="2011680"/>
            <a:ext cx="201168" cy="201168"/>
          </a:xfrm>
          <a:prstGeom prst="roundRect">
            <a:avLst>
              <a:gd name="adj" fmla="val 9091"/>
            </a:avLst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9536" y="2011680"/>
            <a:ext cx="201168" cy="201168"/>
          </a:xfrm>
          <a:prstGeom prst="roundRect">
            <a:avLst>
              <a:gd name="adj" fmla="val 9091"/>
            </a:avLst>
          </a:prstGeom>
          <a:solidFill>
            <a:srgbClr val="007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06424" y="2011680"/>
            <a:ext cx="201168" cy="201168"/>
          </a:xfrm>
          <a:prstGeom prst="roundRect">
            <a:avLst>
              <a:gd name="adj" fmla="val 9091"/>
            </a:avLst>
          </a:prstGeom>
          <a:solidFill>
            <a:srgbClr val="0022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53312" y="2011680"/>
            <a:ext cx="201168" cy="201168"/>
          </a:xfrm>
          <a:prstGeom prst="roundRect">
            <a:avLst>
              <a:gd name="adj" fmla="val 9091"/>
            </a:avLst>
          </a:prstGeom>
          <a:solidFill>
            <a:srgbClr val="EF43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377440"/>
            <a:ext cx="2211934" cy="7315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1213866" cy="7315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2211934" cy="7315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1618488" cy="73152"/>
          </a:xfrm>
          <a:prstGeom prst="roundRect">
            <a:avLst>
              <a:gd name="adj" fmla="val 25000"/>
            </a:avLst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85876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AC8A3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communications.gwu.edu/brand-guidelines</a:t>
            </a:r>
            <a:endParaRPr lang="en-US" sz="1000" dirty="0">
              <a:latin typeface="Proxima Nova Light" panose="02000506030000020004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749040" y="594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033C5A"/>
                </a:solidFill>
                <a:latin typeface="Source Serif Pro Semibold" panose="02040603050405020204" pitchFamily="18" charset="0"/>
                <a:ea typeface="Source Serif Pro Semibold" panose="02040603050405020204" pitchFamily="18" charset="0"/>
                <a:cs typeface="Georgia" pitchFamily="34" charset="-120"/>
              </a:rPr>
              <a:t>GWU refreshed its brand.</a:t>
            </a:r>
            <a:endParaRPr lang="en-US" sz="3200" b="1" dirty="0">
              <a:latin typeface="Source Serif Pro Semibold" panose="02040603050405020204" pitchFamily="18" charset="0"/>
              <a:ea typeface="Source Serif Pro Semibold" panose="0204060305040502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49040" y="1645920"/>
            <a:ext cx="566928" cy="27432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49040" y="175564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New colors. New typefaces. New graphic elements drawn from campus architecture and the DC flag.</a:t>
            </a:r>
            <a:endParaRPr lang="en-US" sz="1500" dirty="0">
              <a:latin typeface="Proxima Nova" panose="02000506030000020004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749040" y="271576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The guidelines live on three web pages — detailed, thoughtful, and written for designers, not for an AI.</a:t>
            </a:r>
            <a:endParaRPr lang="en-US" sz="1500" dirty="0">
              <a:latin typeface="Proxima Nova" panose="02000506030000020004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749040" y="3675888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0075C8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The question was how to get that knowledge into Claude’s hands, permanently and precisely.</a:t>
            </a:r>
            <a:endParaRPr lang="en-US" sz="1500" dirty="0">
              <a:latin typeface="Proxima Nova" panose="02000506030000020004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75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47472"/>
            <a:ext cx="347472" cy="347472"/>
          </a:xfrm>
          <a:prstGeom prst="ellipse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33C5A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Georgia" pitchFamily="34" charset="-120"/>
              </a:rPr>
              <a:t>1</a:t>
            </a:r>
            <a:endParaRPr lang="en-US" sz="1800" b="1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96112" y="4023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DAC8A3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100" dirty="0">
              <a:latin typeface="Proxima Nova Light" panose="0200050603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54864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33C5A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Georgia" pitchFamily="34" charset="-120"/>
              </a:rPr>
              <a:t>Claude on Chrome</a:t>
            </a:r>
            <a:endParaRPr lang="en-US" sz="3600" b="1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33C5A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Georgia" pitchFamily="34" charset="-120"/>
              </a:rPr>
              <a:t>read the guidelines.</a:t>
            </a:r>
            <a:endParaRPr lang="en-US" sz="3600" b="1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185040"/>
            <a:ext cx="566928" cy="27432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15244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Using Claude’s browser extension, three pages of brand documentation were visited and distilled — keeping only what a slide designer needs: colors, type, and graphic elements.</a:t>
            </a:r>
            <a:endParaRPr lang="en-US" sz="1400" dirty="0">
              <a:latin typeface="Proxima Nova" panose="0200050603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8056" y="3500576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400" dirty="0">
                <a:solidFill>
                  <a:srgbClr val="0075C8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No copy-pasting. No manual transcription. Claude read the pages and produced structured Markdown files, ready to use.</a:t>
            </a:r>
            <a:endParaRPr lang="en-US" sz="1400" dirty="0">
              <a:latin typeface="Proxima Nova" panose="0200050603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223760" y="347472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23760" y="3474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55080" y="1234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Claude on Chrome</a:t>
            </a:r>
            <a:endParaRPr lang="en-US" sz="1200" dirty="0">
              <a:latin typeface="Proxima Nova" panose="0200050603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55080" y="15544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AC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55080" y="187452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64808" y="1920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gwu-brand-specs.md</a:t>
            </a:r>
            <a:endParaRPr lang="en-US" sz="1200" dirty="0">
              <a:latin typeface="Proxima Nova" panose="02000506030000020004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4808" y="2194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Colors · Typography · Accessibility</a:t>
            </a:r>
            <a:endParaRPr lang="en-US" sz="1000" dirty="0">
              <a:latin typeface="Proxima Nova" panose="02000506030000020004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2606040"/>
            <a:ext cx="2651760" cy="64008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64808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gwu-graphic-elements-guidelines.md</a:t>
            </a:r>
            <a:endParaRPr lang="en-US" sz="1000" dirty="0">
              <a:latin typeface="Proxima Nova" panose="02000506030000020004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64808" y="29260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Chevrons · Gate Crossbar · Stars</a:t>
            </a:r>
            <a:endParaRPr lang="en-US" sz="1000" dirty="0">
              <a:latin typeface="Proxima Nova" panose="0200050603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55080" y="33649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Minimal. Structured.</a:t>
            </a:r>
            <a:endParaRPr lang="en-US" sz="1100" dirty="0">
              <a:latin typeface="Proxima Nova" panose="02000506030000020004" pitchFamily="2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Only what matters.</a:t>
            </a:r>
            <a:endParaRPr lang="en-US" sz="1100" dirty="0">
              <a:latin typeface="Proxima Nova" panose="02000506030000020004" pitchFamily="2" charset="0"/>
            </a:endParaRP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56026A9C-F84D-5B0A-DE07-780D7CD02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870953"/>
            <a:ext cx="3627120" cy="274320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7899C64E-882B-A971-299A-C2C62A580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2516" y="4866420"/>
            <a:ext cx="3627120" cy="274320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B04080D0-BE4E-6278-893D-7EF0BE9E6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6234" y="4869180"/>
            <a:ext cx="36271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33C5A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Georgia" pitchFamily="34" charset="-120"/>
              </a:rPr>
              <a:t>Three aspects of the brand — captured precisely.</a:t>
            </a:r>
            <a:endParaRPr lang="en-US" sz="2800" b="1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98744"/>
            <a:ext cx="566928" cy="27432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312"/>
            <a:ext cx="2633472" cy="3448829"/>
          </a:xfrm>
          <a:prstGeom prst="rect">
            <a:avLst/>
          </a:prstGeom>
          <a:solidFill>
            <a:srgbClr val="F6F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312"/>
            <a:ext cx="2633472" cy="54864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359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33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99310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0075C8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Trebuchet MS" pitchFamily="34" charset="-120"/>
              </a:rPr>
              <a:t>COLOR SYSTEM</a:t>
            </a:r>
            <a:endParaRPr lang="en-US" sz="1100" dirty="0">
              <a:latin typeface="Source Serif Pro Light" panose="02040303050405020204" pitchFamily="18" charset="0"/>
              <a:ea typeface="Source Serif Pro Light" panose="0204030305040502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322288"/>
            <a:ext cx="22677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10 named brand colors with tints. Exact hex values. WCAG AA–compliant pairings for every background.</a:t>
            </a:r>
            <a:endParaRPr lang="en-US" sz="1200" dirty="0">
              <a:latin typeface="Proxima Nova" panose="0200050603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767040"/>
            <a:ext cx="2267712" cy="13716"/>
          </a:xfrm>
          <a:prstGeom prst="rect">
            <a:avLst/>
          </a:prstGeom>
          <a:solidFill>
            <a:srgbClr val="E8DD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821904"/>
            <a:ext cx="2267712" cy="899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GW Blue · GW Buff · Potomac · Navy Yard — plus five secondary accents.</a:t>
            </a:r>
            <a:endParaRPr lang="en-US" sz="1100" dirty="0">
              <a:latin typeface="Proxima Nova Light" panose="0200050603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9544" y="1371312"/>
            <a:ext cx="2633472" cy="3448829"/>
          </a:xfrm>
          <a:prstGeom prst="rect">
            <a:avLst/>
          </a:prstGeom>
          <a:solidFill>
            <a:srgbClr val="F6F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9544" y="1371312"/>
            <a:ext cx="2633472" cy="54864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92424" y="15359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33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92424" y="199310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0075C8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Trebuchet MS" pitchFamily="34" charset="-120"/>
              </a:rPr>
              <a:t>TYPOGRAPHY</a:t>
            </a:r>
            <a:endParaRPr lang="en-US" sz="1100" dirty="0">
              <a:latin typeface="Source Serif Pro Light" panose="02040303050405020204" pitchFamily="18" charset="0"/>
              <a:ea typeface="Source Serif Pro Light" panose="0204030305040502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92424" y="2322288"/>
            <a:ext cx="22677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Three brand typefaces with roles defined. Google Fonts substitutes identified for free use online.</a:t>
            </a:r>
            <a:endParaRPr lang="en-US" sz="1200" dirty="0">
              <a:latin typeface="Proxima Nova" panose="02000506030000020004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92424" y="3767040"/>
            <a:ext cx="2267712" cy="13716"/>
          </a:xfrm>
          <a:prstGeom prst="rect">
            <a:avLst/>
          </a:prstGeom>
          <a:solidFill>
            <a:srgbClr val="E8DD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92424" y="3821904"/>
            <a:ext cx="2267712" cy="899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Gazzetta → Playfair Display</a:t>
            </a:r>
            <a:endParaRPr lang="en-US" sz="1100" dirty="0">
              <a:latin typeface="Proxima Nova Light" panose="02000506030000020004" pitchFamily="2" charset="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Avenir Next → Nunito Sans</a:t>
            </a:r>
            <a:endParaRPr lang="en-US" sz="1100" dirty="0">
              <a:latin typeface="Proxima Nova Light" panose="02000506030000020004" pitchFamily="2" charset="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Source Serif → Source Serif 4</a:t>
            </a:r>
            <a:endParaRPr lang="en-US" sz="1100" dirty="0">
              <a:latin typeface="Proxima Nova Light" panose="02000506030000020004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61888" y="1371312"/>
            <a:ext cx="2633472" cy="3448829"/>
          </a:xfrm>
          <a:prstGeom prst="rect">
            <a:avLst/>
          </a:prstGeom>
          <a:solidFill>
            <a:srgbClr val="F6F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61888" y="1371312"/>
            <a:ext cx="2633472" cy="54864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44768" y="1535904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33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44768" y="199310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0075C8"/>
                </a:solidFill>
                <a:latin typeface="Source Serif Pro Light" panose="02040303050405020204" pitchFamily="18" charset="0"/>
                <a:ea typeface="Source Serif Pro Light" panose="02040303050405020204" pitchFamily="18" charset="0"/>
                <a:cs typeface="Trebuchet MS" pitchFamily="34" charset="-120"/>
              </a:rPr>
              <a:t>GRAPHIC ELEMENTS</a:t>
            </a:r>
            <a:endParaRPr lang="en-US" sz="1100" dirty="0">
              <a:latin typeface="Source Serif Pro Light" panose="02040303050405020204" pitchFamily="18" charset="0"/>
              <a:ea typeface="Source Serif Pro Light" panose="0204030305040502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44768" y="2322288"/>
            <a:ext cx="22677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E1E1E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Chevrons, Gate Crossbar, and star motifs — each with specific rules for orientation, color, and placement.</a:t>
            </a:r>
            <a:endParaRPr lang="en-US" sz="1200" dirty="0">
              <a:latin typeface="Proxima Nova" panose="02000506030000020004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44768" y="3767040"/>
            <a:ext cx="2267712" cy="13716"/>
          </a:xfrm>
          <a:prstGeom prst="rect">
            <a:avLst/>
          </a:prstGeom>
          <a:solidFill>
            <a:srgbClr val="E8DD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44768" y="3821904"/>
            <a:ext cx="2267712" cy="899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One pattern per slide. Single color only. Consistent throughout the deck.</a:t>
            </a:r>
            <a:endParaRPr lang="en-US" sz="1100" dirty="0">
              <a:latin typeface="Proxima Nova Light" panose="02000506030000020004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-402336" y="5426676"/>
            <a:ext cx="201168" cy="64008"/>
          </a:xfrm>
          <a:prstGeom prst="rect">
            <a:avLst/>
          </a:prstGeom>
          <a:solidFill>
            <a:srgbClr val="033C5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894" y="0"/>
            <a:ext cx="9197788" cy="5143500"/>
          </a:xfrm>
          <a:prstGeom prst="rect">
            <a:avLst/>
          </a:prstGeom>
          <a:solidFill>
            <a:srgbClr val="033C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6BF91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STEP TWO</a:t>
            </a:r>
            <a:endParaRPr lang="en-US" sz="1100" dirty="0">
              <a:latin typeface="Proxima Nova" panose="0200050603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931920" y="1719072"/>
            <a:ext cx="1280160" cy="22860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800" b="1" i="1" dirty="0">
                <a:solidFill>
                  <a:srgbClr val="FFFFFF"/>
                </a:solidFill>
                <a:latin typeface="Source Serif Pro Semibold" panose="02040603050405020204" pitchFamily="18" charset="0"/>
                <a:ea typeface="Source Serif Pro Semibold" panose="02040603050405020204" pitchFamily="18" charset="0"/>
                <a:cs typeface="Georgia" pitchFamily="34" charset="-120"/>
              </a:rPr>
              <a:t>Turning knowledge</a:t>
            </a:r>
            <a:endParaRPr lang="en-US" sz="4800" b="1" i="1" dirty="0">
              <a:latin typeface="Source Serif Pro Semibold" panose="02040603050405020204" pitchFamily="18" charset="0"/>
              <a:ea typeface="Source Serif Pro Semibold" panose="02040603050405020204" pitchFamily="18" charset="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4800" b="1" i="1" dirty="0">
                <a:solidFill>
                  <a:srgbClr val="FFFFFF"/>
                </a:solidFill>
                <a:latin typeface="Source Serif Pro Semibold" panose="02040603050405020204" pitchFamily="18" charset="0"/>
                <a:ea typeface="Source Serif Pro Semibold" panose="02040603050405020204" pitchFamily="18" charset="0"/>
                <a:cs typeface="Georgia" pitchFamily="34" charset="-120"/>
              </a:rPr>
              <a:t>into a reusable skill</a:t>
            </a:r>
            <a:endParaRPr lang="en-US" sz="4800" b="1" i="1" dirty="0">
              <a:latin typeface="Source Serif Pro Semibold" panose="02040603050405020204" pitchFamily="18" charset="0"/>
              <a:ea typeface="Source Serif Pro Semibold" panose="0204060305040502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931920" y="3977640"/>
            <a:ext cx="1280160" cy="22860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6E3FC6-37CF-7672-3543-A805867917B9}"/>
              </a:ext>
            </a:extLst>
          </p:cNvPr>
          <p:cNvGrpSpPr/>
          <p:nvPr/>
        </p:nvGrpSpPr>
        <p:grpSpPr>
          <a:xfrm>
            <a:off x="536740" y="621792"/>
            <a:ext cx="1005840" cy="64008"/>
            <a:chOff x="9052560" y="5476780"/>
            <a:chExt cx="1005840" cy="64008"/>
          </a:xfrm>
        </p:grpSpPr>
        <p:sp>
          <p:nvSpPr>
            <p:cNvPr id="12" name="Shape 71">
              <a:extLst>
                <a:ext uri="{FF2B5EF4-FFF2-40B4-BE49-F238E27FC236}">
                  <a16:creationId xmlns:a16="http://schemas.microsoft.com/office/drawing/2014/main" id="{76EC9B09-5E2B-0878-915A-347BFAB877CF}"/>
                </a:ext>
              </a:extLst>
            </p:cNvPr>
            <p:cNvSpPr/>
            <p:nvPr/>
          </p:nvSpPr>
          <p:spPr>
            <a:xfrm>
              <a:off x="9052560" y="5476780"/>
              <a:ext cx="201168" cy="64008"/>
            </a:xfrm>
            <a:prstGeom prst="rect">
              <a:avLst/>
            </a:prstGeom>
            <a:solidFill>
              <a:srgbClr val="D6BF91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72">
              <a:extLst>
                <a:ext uri="{FF2B5EF4-FFF2-40B4-BE49-F238E27FC236}">
                  <a16:creationId xmlns:a16="http://schemas.microsoft.com/office/drawing/2014/main" id="{B7DC4938-0C6B-A124-8A2A-5DD2707A6C09}"/>
                </a:ext>
              </a:extLst>
            </p:cNvPr>
            <p:cNvSpPr/>
            <p:nvPr/>
          </p:nvSpPr>
          <p:spPr>
            <a:xfrm>
              <a:off x="9253728" y="5476780"/>
              <a:ext cx="201168" cy="64008"/>
            </a:xfrm>
            <a:prstGeom prst="rect">
              <a:avLst/>
            </a:prstGeom>
            <a:solidFill>
              <a:srgbClr val="033C5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73">
              <a:extLst>
                <a:ext uri="{FF2B5EF4-FFF2-40B4-BE49-F238E27FC236}">
                  <a16:creationId xmlns:a16="http://schemas.microsoft.com/office/drawing/2014/main" id="{8B7F13F9-CB0D-A2B9-B5B8-0D7ABD4A0458}"/>
                </a:ext>
              </a:extLst>
            </p:cNvPr>
            <p:cNvSpPr/>
            <p:nvPr/>
          </p:nvSpPr>
          <p:spPr>
            <a:xfrm>
              <a:off x="9454896" y="5476780"/>
              <a:ext cx="201168" cy="64008"/>
            </a:xfrm>
            <a:prstGeom prst="rect">
              <a:avLst/>
            </a:prstGeom>
            <a:solidFill>
              <a:srgbClr val="D6BF9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74">
              <a:extLst>
                <a:ext uri="{FF2B5EF4-FFF2-40B4-BE49-F238E27FC236}">
                  <a16:creationId xmlns:a16="http://schemas.microsoft.com/office/drawing/2014/main" id="{27E12183-69BD-B08F-BF76-39FDCF138A79}"/>
                </a:ext>
              </a:extLst>
            </p:cNvPr>
            <p:cNvSpPr/>
            <p:nvPr/>
          </p:nvSpPr>
          <p:spPr>
            <a:xfrm>
              <a:off x="9656064" y="5476780"/>
              <a:ext cx="201168" cy="64008"/>
            </a:xfrm>
            <a:prstGeom prst="rect">
              <a:avLst/>
            </a:prstGeom>
            <a:solidFill>
              <a:srgbClr val="033C5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75">
              <a:extLst>
                <a:ext uri="{FF2B5EF4-FFF2-40B4-BE49-F238E27FC236}">
                  <a16:creationId xmlns:a16="http://schemas.microsoft.com/office/drawing/2014/main" id="{DF129954-D8EC-48C5-0921-2EE608F044DE}"/>
                </a:ext>
              </a:extLst>
            </p:cNvPr>
            <p:cNvSpPr/>
            <p:nvPr/>
          </p:nvSpPr>
          <p:spPr>
            <a:xfrm>
              <a:off x="9857232" y="5476780"/>
              <a:ext cx="201168" cy="64008"/>
            </a:xfrm>
            <a:prstGeom prst="rect">
              <a:avLst/>
            </a:prstGeom>
            <a:solidFill>
              <a:srgbClr val="D6BF91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3788" y="0"/>
            <a:ext cx="2888428" cy="5143500"/>
          </a:xfrm>
          <a:prstGeom prst="rect">
            <a:avLst/>
          </a:prstGeom>
          <a:solidFill>
            <a:srgbClr val="0022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38404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6BF9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438912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DAC8A3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PREVIOUS SPEC</a:t>
            </a:r>
            <a:endParaRPr lang="en-US" sz="900" dirty="0">
              <a:latin typeface="Proxima Nova Light" panose="0200050603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2608" y="65836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OLD-gwu-light-theme.md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4592" y="1133856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6BF9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188720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DAC8A3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EXTRACTED FROM WEB</a:t>
            </a:r>
            <a:endParaRPr lang="en-US" sz="900" dirty="0">
              <a:latin typeface="Proxima Nova Light" panose="0200050603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" y="1408176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gwu-brand-specs.md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64592" y="1883664"/>
            <a:ext cx="2487168" cy="713232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6BF9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1938528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DAC8A3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EXTRACTED FROM WEB</a:t>
            </a:r>
            <a:endParaRPr lang="en-US" sz="900" dirty="0">
              <a:latin typeface="Proxima Nova Light" panose="02000506030000020004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2608" y="2157984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gwu-graphic-elements-guidelines.md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0" y="26700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B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64592" y="3017520"/>
            <a:ext cx="2487168" cy="749808"/>
          </a:xfrm>
          <a:prstGeom prst="roundRect">
            <a:avLst>
              <a:gd name="adj" fmla="val 8974"/>
            </a:avLst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072384"/>
            <a:ext cx="347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33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3072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3C5A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gwu-presentation.skill</a:t>
            </a:r>
            <a:endParaRPr lang="en-US" sz="1200" dirty="0">
              <a:latin typeface="Proxima Nova" panose="02000506030000020004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341299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33C5A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Installable · Reusable · Always brand-correct</a:t>
            </a:r>
            <a:endParaRPr lang="en-US" sz="1000" dirty="0">
              <a:latin typeface="Proxima Nova" panose="02000506030000020004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108960" y="320040"/>
            <a:ext cx="347472" cy="347472"/>
          </a:xfrm>
          <a:prstGeom prst="ellipse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0" y="320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33C5A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Georgia" pitchFamily="34" charset="-120"/>
              </a:rPr>
              <a:t>2</a:t>
            </a:r>
            <a:endParaRPr lang="en-US" sz="1800" b="1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47872" y="3749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150" dirty="0">
                <a:solidFill>
                  <a:srgbClr val="DAC8A3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SYNTHESIZE</a:t>
            </a:r>
            <a:endParaRPr lang="en-US" sz="1100" dirty="0">
              <a:latin typeface="Proxima Nova Light" panose="0200050603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108960" y="777240"/>
            <a:ext cx="5760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33C5A"/>
                </a:solidFill>
                <a:latin typeface="Source Serif Pro Semibold" panose="02040603050405020204" pitchFamily="18" charset="0"/>
                <a:ea typeface="Source Serif Pro Semibold" panose="02040603050405020204" pitchFamily="18" charset="0"/>
                <a:cs typeface="Georgia" pitchFamily="34" charset="-120"/>
              </a:rPr>
              <a:t>The skill-creator combined</a:t>
            </a:r>
            <a:endParaRPr lang="en-US" sz="2600" b="1" dirty="0">
              <a:latin typeface="Source Serif Pro Semibold" panose="02040603050405020204" pitchFamily="18" charset="0"/>
              <a:ea typeface="Source Serif Pro Semibold" panose="02040603050405020204" pitchFamily="18" charset="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33C5A"/>
                </a:solidFill>
                <a:latin typeface="Source Serif Pro Semibold" panose="02040603050405020204" pitchFamily="18" charset="0"/>
                <a:ea typeface="Source Serif Pro Semibold" panose="02040603050405020204" pitchFamily="18" charset="0"/>
                <a:cs typeface="Georgia" pitchFamily="34" charset="-120"/>
              </a:rPr>
              <a:t>all three inputs.</a:t>
            </a:r>
            <a:endParaRPr lang="en-US" sz="2600" b="1" dirty="0">
              <a:latin typeface="Source Serif Pro Semibold" panose="02040603050405020204" pitchFamily="18" charset="0"/>
              <a:ea typeface="Source Serif Pro Semibold" panose="0204060305040502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08960" y="2073559"/>
            <a:ext cx="566928" cy="27432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08960" y="2423160"/>
            <a:ext cx="310896" cy="310896"/>
          </a:xfrm>
          <a:prstGeom prst="ellipse">
            <a:avLst/>
          </a:prstGeom>
          <a:solidFill>
            <a:srgbClr val="F6F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08960" y="2423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33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11296" y="2441448"/>
            <a:ext cx="5358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3C5A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Updated brand identity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511296" y="2697480"/>
            <a:ext cx="5358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New colors, typefaces, and graphic elements—replacing the outdated 2022 spec.</a:t>
            </a:r>
            <a:endParaRPr lang="en-US" sz="1100" dirty="0">
              <a:latin typeface="Proxima Nova" panose="02000506030000020004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108960" y="3182112"/>
            <a:ext cx="5760720" cy="10973"/>
          </a:xfrm>
          <a:prstGeom prst="rect">
            <a:avLst/>
          </a:prstGeom>
          <a:solidFill>
            <a:srgbClr val="E8DD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08960" y="3319272"/>
            <a:ext cx="310896" cy="310896"/>
          </a:xfrm>
          <a:prstGeom prst="ellipse">
            <a:avLst/>
          </a:prstGeom>
          <a:solidFill>
            <a:srgbClr val="F6F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0" y="3319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33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11296" y="3337560"/>
            <a:ext cx="5358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3C5A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Presentation Zen built in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511295" y="3593592"/>
            <a:ext cx="563270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One idea per slide, signal over noise, images over bullets—woven into every layout rule.</a:t>
            </a:r>
            <a:endParaRPr lang="en-US" sz="1100" dirty="0">
              <a:latin typeface="Proxima Nova" panose="02000506030000020004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108960" y="4078224"/>
            <a:ext cx="5760720" cy="10973"/>
          </a:xfrm>
          <a:prstGeom prst="rect">
            <a:avLst/>
          </a:prstGeom>
          <a:solidFill>
            <a:srgbClr val="E8DD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08960" y="4215384"/>
            <a:ext cx="310896" cy="310896"/>
          </a:xfrm>
          <a:prstGeom prst="ellipse">
            <a:avLst/>
          </a:prstGeom>
          <a:solidFill>
            <a:srgbClr val="F6F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08960" y="42153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33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▦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11296" y="4233672"/>
            <a:ext cx="5358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33C5A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Nine layout patterns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511296" y="4489704"/>
            <a:ext cx="53583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Cover, big idea, split, stats, tiles, divider, quote, image—each chosen by communication purpose.</a:t>
            </a:r>
            <a:endParaRPr lang="en-US" sz="1100" dirty="0">
              <a:latin typeface="Proxima Nova" panose="02000506030000020004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3788" y="7684"/>
            <a:ext cx="9205472" cy="5143500"/>
          </a:xfrm>
          <a:prstGeom prst="rect">
            <a:avLst/>
          </a:prstGeom>
          <a:solidFill>
            <a:srgbClr val="0022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10973" cy="5143500"/>
          </a:xfrm>
          <a:prstGeom prst="rect">
            <a:avLst/>
          </a:prstGeom>
          <a:solidFill>
            <a:srgbClr val="D6BF9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D6BF91"/>
                </a:solidFill>
                <a:latin typeface="Proxima Nova Light" panose="02000506030000020004" pitchFamily="2" charset="0"/>
                <a:ea typeface="Trebuchet MS" pitchFamily="34" charset="-122"/>
                <a:cs typeface="Trebuchet MS" pitchFamily="34" charset="-120"/>
              </a:rPr>
              <a:t>THE RESULT</a:t>
            </a:r>
            <a:endParaRPr lang="en-US" sz="1200" dirty="0">
              <a:latin typeface="Proxima Nova Light" panose="0200050603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779776"/>
            <a:ext cx="566928" cy="27432"/>
          </a:xfrm>
          <a:prstGeom prst="rect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0743" y="77724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Georgia" pitchFamily="34" charset="-120"/>
              </a:rPr>
              <a:t>One installation.</a:t>
            </a:r>
            <a:endParaRPr lang="en-US" sz="3200" b="1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Georgia" pitchFamily="34" charset="-120"/>
              </a:rPr>
              <a:t>Brand-compliant</a:t>
            </a:r>
            <a:endParaRPr lang="en-US" sz="3200" b="1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Georgia" pitchFamily="34" charset="-120"/>
              </a:rPr>
              <a:t>by default.</a:t>
            </a:r>
            <a:endParaRPr lang="en-US" sz="3200" b="1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048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DAC8A3"/>
                </a:solidFill>
                <a:latin typeface="Source Serif Pro" panose="02040603050405020204" pitchFamily="18" charset="0"/>
                <a:ea typeface="Source Serif Pro" panose="02040603050405020204" pitchFamily="18" charset="0"/>
                <a:cs typeface="Georgia" pitchFamily="34" charset="-120"/>
              </a:rPr>
              <a:t>Every future GWU presentation starts with the right colors, the right typefaces, and the right design principles — without looking anything up.</a:t>
            </a:r>
            <a:endParaRPr lang="en-US" sz="1600" i="1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38541" y="395732"/>
            <a:ext cx="1148673" cy="1141476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6BF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347472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D6B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37960" y="11521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DAC8A3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.skill</a:t>
            </a:r>
            <a:endParaRPr lang="en-US" sz="1100" dirty="0">
              <a:latin typeface="Proxima Nova" panose="0200050603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577840" y="1968500"/>
            <a:ext cx="91440" cy="91440"/>
          </a:xfrm>
          <a:prstGeom prst="ellipse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1879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BFB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Claude on Chrome reads brand guidelines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77840" y="2603500"/>
            <a:ext cx="91440" cy="91440"/>
          </a:xfrm>
          <a:prstGeom prst="ellipse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2514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BFB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Extracts structured Markdown files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577840" y="3238500"/>
            <a:ext cx="91440" cy="91440"/>
          </a:xfrm>
          <a:prstGeom prst="ellipse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3149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BFB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Skill creator synthesizes with Presentation Zen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577840" y="3873500"/>
            <a:ext cx="91440" cy="91440"/>
          </a:xfrm>
          <a:prstGeom prst="ellipse">
            <a:avLst/>
          </a:prstGeom>
          <a:solidFill>
            <a:srgbClr val="D6BF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0" y="3784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BFBF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Packaged as an installable .skill file</a:t>
            </a:r>
            <a:endParaRPr lang="en-US" sz="1300" dirty="0">
              <a:latin typeface="Proxima Nova" panose="02000506030000020004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77840" y="4508500"/>
            <a:ext cx="91440" cy="91440"/>
          </a:xfrm>
          <a:prstGeom prst="ellipse">
            <a:avLst/>
          </a:prstGeom>
          <a:solidFill>
            <a:srgbClr val="7FBA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0" y="4419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BAE3"/>
                </a:solidFill>
                <a:latin typeface="Proxima Nova" panose="02000506030000020004" pitchFamily="2" charset="0"/>
                <a:ea typeface="Trebuchet MS" pitchFamily="34" charset="-122"/>
                <a:cs typeface="Trebuchet MS" pitchFamily="34" charset="-120"/>
              </a:rPr>
              <a:t>Total time: one afternoon</a:t>
            </a:r>
            <a:endParaRPr lang="en-US" sz="1300" dirty="0">
              <a:latin typeface="Proxima Nova" panose="02000506030000020004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EB498C-7E4C-AC40-AFD8-A50814901056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87a7ac9-9b8e-4cf1-b0eb-f836af5868b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529</Words>
  <Application>Microsoft Macintosh PowerPoint</Application>
  <PresentationFormat>On-screen Show (16:9)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Courier New</vt:lpstr>
      <vt:lpstr>Gazzetta ExtraBold</vt:lpstr>
      <vt:lpstr>Gazzetta Slanted</vt:lpstr>
      <vt:lpstr>Georgia</vt:lpstr>
      <vt:lpstr>Proxima Nova</vt:lpstr>
      <vt:lpstr>Proxima Nova Light</vt:lpstr>
      <vt:lpstr>Proxima Nova Medium</vt:lpstr>
      <vt:lpstr>Source Serif Pro</vt:lpstr>
      <vt:lpstr>Source Serif Pro Light</vt:lpstr>
      <vt:lpstr>Source Serif Pro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Barba, Lorena A</cp:lastModifiedBy>
  <cp:revision>1</cp:revision>
  <dcterms:created xsi:type="dcterms:W3CDTF">2026-04-03T21:42:55Z</dcterms:created>
  <dcterms:modified xsi:type="dcterms:W3CDTF">2026-04-25T17:55:16Z</dcterms:modified>
</cp:coreProperties>
</file>