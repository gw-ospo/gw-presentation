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Cover">
    <p:bg>
      <p:bgPr>
        <a:solidFill>
          <a:srgbClr val="002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852160" cy="173736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buNone/>
              <a:defRPr lang="en-US" sz="6000" dirty="0">
                <a:solidFill>
                  <a:srgbClr val="FFFFFF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Talk title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5852160" cy="7315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ct val="110000"/>
              </a:lnSpc>
              <a:buNone/>
              <a:defRPr lang="en-US" sz="1900" i="1" dirty="0">
                <a:solidFill>
                  <a:srgbClr val="DAC8A3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DAC8A3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Subtitle</a:t>
            </a:r>
            <a:endParaRPr lang="en-US" sz="19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Section">
    <p:bg>
      <p:bgPr>
        <a:solidFill>
          <a:srgbClr val="033C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691640"/>
            <a:ext cx="7315200" cy="155448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ctr" indent="0" marL="0">
              <a:buNone/>
              <a:defRPr lang="en-US" sz="4800" dirty="0">
                <a:solidFill>
                  <a:srgbClr val="FFFFFF"/>
                </a:solidFill>
                <a:latin typeface="Gazzetta Slanted" pitchFamily="34" charset="0"/>
                <a:ea typeface="Gazzetta Slanted" pitchFamily="34" charset="-122"/>
                <a:cs typeface="Gazzetta Slante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azzetta Slanted" pitchFamily="34" charset="0"/>
                <a:ea typeface="Gazzetta Slanted" pitchFamily="34" charset="-122"/>
                <a:cs typeface="Gazzetta Slanted" pitchFamily="34" charset="-120"/>
              </a:rPr>
              <a:t>Section title</a:t>
            </a:r>
            <a:endParaRPr lang="en-US" sz="48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566928" cy="27432"/>
          </a:xfrm>
          <a:prstGeom prst="rect">
            <a:avLst/>
          </a:prstGeom>
          <a:solidFill>
            <a:srgbClr val="D6BF9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8046720" cy="82296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buNone/>
              <a:defRPr lang="en-US" sz="36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600200"/>
            <a:ext cx="8046720" cy="30175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ct val="130000"/>
              </a:lnSpc>
              <a:buNone/>
              <a:defRPr lang="en-US" sz="1600" dirty="0">
                <a:solidFill>
                  <a:srgbClr val="1E1E1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idea. Four lines at most.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566928" cy="27432"/>
          </a:xfrm>
          <a:prstGeom prst="rect">
            <a:avLst/>
          </a:prstGeom>
          <a:solidFill>
            <a:srgbClr val="D6BF9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8046720" cy="82296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buNone/>
              <a:defRPr lang="en-US" sz="36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Slide title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Big Ide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463040"/>
            <a:ext cx="7315200" cy="182880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ctr" indent="0" marL="0">
              <a:buNone/>
              <a:defRPr lang="en-US" sz="44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The one big idea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Big Idea Dark">
    <p:bg>
      <p:bgPr>
        <a:solidFill>
          <a:srgbClr val="002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325880"/>
            <a:ext cx="7315200" cy="182880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ctr" indent="0" marL="0">
              <a:buNone/>
              <a:defRPr lang="en-US" sz="4600" dirty="0">
                <a:solidFill>
                  <a:srgbClr val="FFFFFF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The closing statement</a:t>
            </a:r>
            <a:endParaRPr lang="en-US" sz="46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Blank Dark">
    <p:bg>
      <p:bgPr>
        <a:solidFill>
          <a:srgbClr val="002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Photo Spli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6F1E8"/>
          </a:solidFill>
          <a:ln/>
        </p:spPr>
      </p:sp>
      <p:sp>
        <p:nvSpPr>
          <p:cNvPr id="3" name="Text 1"/>
          <p:cNvSpPr/>
          <p:nvPr>
            <p:ph idx="101" type="pic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Drop a photo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 Photo">
    <p:bg>
      <p:bgPr>
        <a:solidFill>
          <a:srgbClr val="002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pic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Drop a full-bleed photo here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7.xml"/><Relationship Id="rId1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W chevron ribb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026269"/>
            <a:ext cx="1524000" cy="117231"/>
          </a:xfrm>
          <a:prstGeom prst="rect">
            <a:avLst/>
          </a:prstGeom>
        </p:spPr>
      </p:pic>
      <p:pic>
        <p:nvPicPr>
          <p:cNvPr id="3" name="Image 1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5026269"/>
            <a:ext cx="1524000" cy="117231"/>
          </a:xfrm>
          <a:prstGeom prst="rect">
            <a:avLst/>
          </a:prstGeom>
        </p:spPr>
      </p:pic>
      <p:pic>
        <p:nvPicPr>
          <p:cNvPr id="4" name="Image 2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0" y="5026269"/>
            <a:ext cx="1524000" cy="117231"/>
          </a:xfrm>
          <a:prstGeom prst="rect">
            <a:avLst/>
          </a:prstGeom>
        </p:spPr>
      </p:pic>
      <p:pic>
        <p:nvPicPr>
          <p:cNvPr id="5" name="Image 3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5026269"/>
            <a:ext cx="1524000" cy="117231"/>
          </a:xfrm>
          <a:prstGeom prst="rect">
            <a:avLst/>
          </a:prstGeom>
        </p:spPr>
      </p:pic>
      <p:pic>
        <p:nvPicPr>
          <p:cNvPr id="6" name="Image 4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0" y="5026269"/>
            <a:ext cx="1524000" cy="117231"/>
          </a:xfrm>
          <a:prstGeom prst="rect">
            <a:avLst/>
          </a:prstGeom>
        </p:spPr>
      </p:pic>
      <p:pic>
        <p:nvPicPr>
          <p:cNvPr id="7" name="Image 5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0" y="5026269"/>
            <a:ext cx="1524000" cy="117231"/>
          </a:xfrm>
          <a:prstGeom prst="rect">
            <a:avLst/>
          </a:prstGeom>
        </p:spPr>
      </p:pic>
      <p:pic>
        <p:nvPicPr>
          <p:cNvPr id="8" name="Image 6" descr="GW Engineeri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336" y="402336"/>
            <a:ext cx="1572768" cy="466588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48640" y="1051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BF9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RESEARCH SYMPOSIUM · 2026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14173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Reproducible</a:t>
            </a:r>
            <a:endParaRPr lang="en-US" sz="6000" dirty="0"/>
          </a:p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azzetta Slanted" pitchFamily="34" charset="0"/>
                <a:ea typeface="Gazzetta Slanted" pitchFamily="34" charset="-122"/>
                <a:cs typeface="Gazzetta Slanted" pitchFamily="34" charset="-120"/>
              </a:rPr>
              <a:t>by Design</a:t>
            </a:r>
            <a:endParaRPr lang="en-US" sz="60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32461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DAC8A3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Why computational research should be rerunnable — by others, and by our future selves</a:t>
            </a:r>
            <a:endParaRPr lang="en-US" sz="1900" dirty="0"/>
          </a:p>
        </p:txBody>
      </p:sp>
      <p:sp>
        <p:nvSpPr>
          <p:cNvPr id="12" name="Text 3"/>
          <p:cNvSpPr/>
          <p:nvPr/>
        </p:nvSpPr>
        <p:spPr>
          <a:xfrm>
            <a:off x="548640" y="4114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Lorena A. Barba · School of Engineering and Applied Science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d/xtsd3jps0ql6tqzl95xk2c2h0000gq/T/gw-pptx-nRkfru/svg-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0" y="1481328"/>
            <a:ext cx="603504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26%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822960" y="24688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33C5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OF COMPUTATIONAL STUDIES COULD BE REPRODUCED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33C5A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Even after the journal required authors to share code and data.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5948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Stodden, Seiler &amp; Ma (2018), PNAS 115(11): 2584–2589 · 204 computational articles in Science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15384" y="1143000"/>
            <a:ext cx="713232" cy="22860"/>
          </a:xfrm>
          <a:prstGeom prst="rect">
            <a:avLst/>
          </a:prstGeom>
          <a:solidFill>
            <a:srgbClr val="D6BF91"/>
          </a:solidFill>
          <a:ln/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A result no one else can rerun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is a claim, not a finding.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W chevron ribb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026269"/>
            <a:ext cx="1524000" cy="117231"/>
          </a:xfrm>
          <a:prstGeom prst="rect">
            <a:avLst/>
          </a:prstGeom>
        </p:spPr>
      </p:pic>
      <p:pic>
        <p:nvPicPr>
          <p:cNvPr id="3" name="Image 1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5026269"/>
            <a:ext cx="1524000" cy="117231"/>
          </a:xfrm>
          <a:prstGeom prst="rect">
            <a:avLst/>
          </a:prstGeom>
        </p:spPr>
      </p:pic>
      <p:pic>
        <p:nvPicPr>
          <p:cNvPr id="4" name="Image 2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0" y="5026269"/>
            <a:ext cx="1524000" cy="117231"/>
          </a:xfrm>
          <a:prstGeom prst="rect">
            <a:avLst/>
          </a:prstGeom>
        </p:spPr>
      </p:pic>
      <p:pic>
        <p:nvPicPr>
          <p:cNvPr id="5" name="Image 3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5026269"/>
            <a:ext cx="1524000" cy="117231"/>
          </a:xfrm>
          <a:prstGeom prst="rect">
            <a:avLst/>
          </a:prstGeom>
        </p:spPr>
      </p:pic>
      <p:pic>
        <p:nvPicPr>
          <p:cNvPr id="6" name="Image 4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0" y="5026269"/>
            <a:ext cx="1524000" cy="117231"/>
          </a:xfrm>
          <a:prstGeom prst="rect">
            <a:avLst/>
          </a:prstGeom>
        </p:spPr>
      </p:pic>
      <p:pic>
        <p:nvPicPr>
          <p:cNvPr id="7" name="Image 5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0" y="5026269"/>
            <a:ext cx="1524000" cy="11723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9144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6BF9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 TWO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914400" y="16916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azzetta Slanted" pitchFamily="34" charset="0"/>
                <a:ea typeface="Gazzetta Slanted" pitchFamily="34" charset="-122"/>
                <a:cs typeface="Gazzetta Slanted" pitchFamily="34" charset="-120"/>
              </a:rPr>
              <a:t>From principle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azzetta Slanted" pitchFamily="34" charset="0"/>
                <a:ea typeface="Gazzetta Slanted" pitchFamily="34" charset="-122"/>
                <a:cs typeface="Gazzetta Slanted" pitchFamily="34" charset="-120"/>
              </a:rPr>
              <a:t>to practice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dirty="0">
                <a:solidFill>
                  <a:srgbClr val="033C5A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Three habits make results rerunnable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48128" cy="2857500"/>
          </a:xfrm>
          <a:prstGeom prst="rect">
            <a:avLst/>
          </a:prstGeom>
          <a:solidFill>
            <a:srgbClr val="F6F1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2548128" cy="45720"/>
          </a:xfrm>
          <a:prstGeom prst="rect">
            <a:avLst/>
          </a:prstGeom>
          <a:solidFill>
            <a:srgbClr val="D6BF9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74520"/>
            <a:ext cx="2145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33C5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VERSION 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2145792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Code, data, and computing environment under version control, with a tag for every published figure.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7936" y="1600200"/>
            <a:ext cx="2548128" cy="2857500"/>
          </a:xfrm>
          <a:prstGeom prst="rect">
            <a:avLst/>
          </a:prstGeom>
          <a:solidFill>
            <a:srgbClr val="F6F1E8"/>
          </a:solidFill>
          <a:ln/>
        </p:spPr>
      </p:sp>
      <p:sp>
        <p:nvSpPr>
          <p:cNvPr id="8" name="Shape 6"/>
          <p:cNvSpPr/>
          <p:nvPr/>
        </p:nvSpPr>
        <p:spPr>
          <a:xfrm>
            <a:off x="3297936" y="1600200"/>
            <a:ext cx="2548128" cy="45720"/>
          </a:xfrm>
          <a:prstGeom prst="rect">
            <a:avLst/>
          </a:prstGeom>
          <a:solidFill>
            <a:srgbClr val="D6BF91"/>
          </a:solidFill>
          <a:ln/>
        </p:spPr>
      </p:sp>
      <p:sp>
        <p:nvSpPr>
          <p:cNvPr id="9" name="Text 7"/>
          <p:cNvSpPr/>
          <p:nvPr/>
        </p:nvSpPr>
        <p:spPr>
          <a:xfrm>
            <a:off x="3499104" y="1874520"/>
            <a:ext cx="2145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33C5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AUTOMATE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99104" y="2258568"/>
            <a:ext cx="2145792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command regenerates every result from raw data. No manual steps, no undocumented tweaks.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47232" y="1600200"/>
            <a:ext cx="2548128" cy="2857500"/>
          </a:xfrm>
          <a:prstGeom prst="rect">
            <a:avLst/>
          </a:prstGeom>
          <a:solidFill>
            <a:srgbClr val="F6F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047232" y="1600200"/>
            <a:ext cx="2548128" cy="45720"/>
          </a:xfrm>
          <a:prstGeom prst="rect">
            <a:avLst/>
          </a:prstGeom>
          <a:solidFill>
            <a:srgbClr val="D6BF91"/>
          </a:solidFill>
          <a:ln/>
        </p:spPr>
      </p:sp>
      <p:sp>
        <p:nvSpPr>
          <p:cNvPr id="13" name="Text 11"/>
          <p:cNvSpPr/>
          <p:nvPr/>
        </p:nvSpPr>
        <p:spPr>
          <a:xfrm>
            <a:off x="6248400" y="1874520"/>
            <a:ext cx="2145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33C5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SHARE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48400" y="2258568"/>
            <a:ext cx="2145792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Publish code and data with an open license and a DOI, alongside the paper.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W chevron ribb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026269"/>
            <a:ext cx="1524000" cy="117231"/>
          </a:xfrm>
          <a:prstGeom prst="rect">
            <a:avLst/>
          </a:prstGeom>
        </p:spPr>
      </p:pic>
      <p:pic>
        <p:nvPicPr>
          <p:cNvPr id="3" name="Image 1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5026269"/>
            <a:ext cx="1524000" cy="117231"/>
          </a:xfrm>
          <a:prstGeom prst="rect">
            <a:avLst/>
          </a:prstGeom>
        </p:spPr>
      </p:pic>
      <p:pic>
        <p:nvPicPr>
          <p:cNvPr id="4" name="Image 2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0" y="5026269"/>
            <a:ext cx="1524000" cy="117231"/>
          </a:xfrm>
          <a:prstGeom prst="rect">
            <a:avLst/>
          </a:prstGeom>
        </p:spPr>
      </p:pic>
      <p:pic>
        <p:nvPicPr>
          <p:cNvPr id="5" name="Image 3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5026269"/>
            <a:ext cx="1524000" cy="117231"/>
          </a:xfrm>
          <a:prstGeom prst="rect">
            <a:avLst/>
          </a:prstGeom>
        </p:spPr>
      </p:pic>
      <p:pic>
        <p:nvPicPr>
          <p:cNvPr id="6" name="Image 4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0" y="5026269"/>
            <a:ext cx="1524000" cy="117231"/>
          </a:xfrm>
          <a:prstGeom prst="rect">
            <a:avLst/>
          </a:prstGeom>
        </p:spPr>
      </p:pic>
      <p:pic>
        <p:nvPicPr>
          <p:cNvPr id="7" name="Image 5" descr="/var/folders/5d/xtsd3jps0ql6tqzl95xk2c2h0000gq/T/gw-pptx-nRkfru/svg-0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0" y="5026269"/>
            <a:ext cx="1524000" cy="117231"/>
          </a:xfrm>
          <a:prstGeom prst="rect">
            <a:avLst/>
          </a:prstGeom>
        </p:spPr>
      </p:pic>
      <p:pic>
        <p:nvPicPr>
          <p:cNvPr id="8" name="Image 6" descr="GW Engineeri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336" y="402336"/>
            <a:ext cx="1572768" cy="466588"/>
          </a:xfrm>
          <a:prstGeom prst="rect">
            <a:avLst/>
          </a:prstGeom>
        </p:spPr>
      </p:pic>
      <p:sp>
        <p:nvSpPr>
          <p:cNvPr id="9" name="Shape 0"/>
          <p:cNvSpPr/>
          <p:nvPr/>
        </p:nvSpPr>
        <p:spPr>
          <a:xfrm>
            <a:off x="4215384" y="1143000"/>
            <a:ext cx="713232" cy="22860"/>
          </a:xfrm>
          <a:prstGeom prst="rect">
            <a:avLst/>
          </a:prstGeom>
          <a:solidFill>
            <a:srgbClr val="D6BF91"/>
          </a:solidFill>
          <a:ln/>
        </p:spPr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914400" y="13258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Make your next paper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Gazzetta" pitchFamily="34" charset="0"/>
                <a:ea typeface="Gazzetta" pitchFamily="34" charset="-122"/>
                <a:cs typeface="Gazzetta" pitchFamily="34" charset="-120"/>
              </a:rPr>
              <a:t>one anyone can rerun.</a:t>
            </a:r>
            <a:endParaRPr lang="en-US" sz="4600" dirty="0"/>
          </a:p>
        </p:txBody>
      </p:sp>
      <p:sp>
        <p:nvSpPr>
          <p:cNvPr id="11" name="Text 2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BF9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Version it. Automate it. Share 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W">
  <a:themeElements>
    <a:clrScheme name="GW">
      <a:dk1>
        <a:srgbClr val="1E1E1E"/>
      </a:dk1>
      <a:lt1>
        <a:srgbClr val="FFFFFF"/>
      </a:lt1>
      <a:dk2>
        <a:srgbClr val="033C5A"/>
      </a:dk2>
      <a:lt2>
        <a:srgbClr val="F6F1E8"/>
      </a:lt2>
      <a:accent1>
        <a:srgbClr val="033C5A"/>
      </a:accent1>
      <a:accent2>
        <a:srgbClr val="D6BF91"/>
      </a:accent2>
      <a:accent3>
        <a:srgbClr val="0075C8"/>
      </a:accent3>
      <a:accent4>
        <a:srgbClr val="00223E"/>
      </a:accent4>
      <a:accent5>
        <a:srgbClr val="7FBAE3"/>
      </a:accent5>
      <a:accent6>
        <a:srgbClr val="E8DDC6"/>
      </a:accent6>
      <a:hlink>
        <a:srgbClr val="0075C8"/>
      </a:hlink>
      <a:folHlink>
        <a:srgbClr val="033C5A"/>
      </a:folHlink>
    </a:clrScheme>
    <a:fontScheme name="GW">
      <a:majorFont>
        <a:latin typeface="Gazzett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The George Washington University, School of Engineering and Applied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by Design</dc:title>
  <dc:subject>PptxGenJS Presentation</dc:subject>
  <dc:creator>Lorena A. Barba</dc:creator>
  <cp:lastModifiedBy>Lorena A. Barba</cp:lastModifiedBy>
  <cp:revision>1</cp:revision>
  <dcterms:created xsi:type="dcterms:W3CDTF">2026-10-21T00:24:40Z</dcterms:created>
  <dcterms:modified xsi:type="dcterms:W3CDTF">2026-10-21T00:24:40Z</dcterms:modified>
</cp:coreProperties>
</file>